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08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Analytics and Business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Python system that turns historical sales data into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decisions, using pandas analytics and scikit-learn Machine Learning.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5257800"/>
            <a:ext cx="14630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  •  Scikit-learn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records every sale: region, category, customer, amount sold, profit made. On its own, raw data is not useful — a manager cannot scan 3,000+ rows and know what to do next.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does the two things a real business tool must do: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1828800"/>
            <a:ext cx="640080" cy="640080"/>
          </a:xfrm>
          <a:prstGeom prst="ellipse">
            <a:avLst/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0" y="18105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Analysis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66560" y="242316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what already happened — best region, worst product, monthly trend — using pandas.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70332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0" y="3977640"/>
            <a:ext cx="640080" cy="640080"/>
          </a:xfrm>
          <a:prstGeom prst="ellipse">
            <a:avLst/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9520" y="39593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Analysis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45720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Machine Learning (scikit-learn) to learn from history and estimate what happens next with new, unseen data.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This System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81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performs best — and worst?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2549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33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generates maximum sales?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8770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6850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sells the most?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9286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736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months have the strongest / weakest sales?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09360" y="17739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5819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contribute the most revenue?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09360" y="282549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334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should receive more stock?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09360" y="387705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6850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is likely to grow next?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49286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7365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needs marketing investment?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80760" y="1600200"/>
            <a:ext cx="0" cy="420624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487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data into DataFrames; groupby(), sum(), mean() work like an Excel PivotTable.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4622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462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70332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pandas internally; used directly for np.where() to build conditional columns.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6374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637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70332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and saves Bar, Line, Pie, Histogram, and Scatter charts as image files.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8126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812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464040" y="324612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70332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ML algorithms: Linear Regression, KMeans, Random Forest — no maths from scratch.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Philosophy: Simple by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classes, no OOP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functions + global variables so every line is traceable without needing object-oriented concepts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lambdas, no advanced syntax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3364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is written as its own clear, commented step — built for a first-year B.Tech evaluation.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297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menu-driven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6908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while loop, one if/elif chain, 15 numbered options — predictable and easy to demo.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 and Validating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sales_data = pd.read_csv(file_path)
</a:t>
            </a: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sales_data["Order_Date"] = pd.to_datetime(
    sales_data["Order_Date"])
sales_data["Month"] = sales_data["Order_Date"].dt.month
sales_data["Year"]  = sales_data["Order_Date"].dt.year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46520" y="17922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6002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CSV into a pandas DataFrame, then splits Order_Date into Month and Year columns for later trend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309067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898648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 module: pd.read_csv() is simply tried inside a try/except — a missing file raises FileNotFoundError, caught with a helpful message.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43891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4197096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validation: every loaded file is checked against a required-columns list, so ANY correctly-shaped CSV (not just the sample) can be used.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2 –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 &amp; Business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.shape, .columns  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row/column counts and names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.head()  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first rows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.isnull().sum()  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missing values per column
</a:t>
            </a:r>
            <a:endParaRPr lang="en-US" sz="13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.describe()  </a:t>
            </a: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mean, quartiles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Business Summary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48716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3042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&amp; Profit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37960" y="321868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0358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&amp; Profit / Order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37960" y="395020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7673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Customers, Products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37960" y="468172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4988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 Given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FC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.sum(), .mean(), .nunique() — the “big picture” numbers a manager wants first.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4 –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Technique Behind Every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rows sharing a value (e.g. Region) into one group — exactly like an Excel PivotTable.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2926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1272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 total for each group separately (e.g. Sales per Region).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2926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1272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totals biggest-to-smallest; head(10) / tail(10) show best and weakest.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29260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idxmax() / idxmin()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127248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actual name (label) of the best/worst group, not just the number.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Product Analysis (4), Category Analysis (5), and Region Analysis (6) — answering which region/category/product is strongest and weakest.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4 –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Drill-Down Features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245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Detail 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Product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× Category breakdown, plus lookup of one Product+Category+Region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Category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× Region breakdown — which region sells the most/least of each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Region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region's top-selling Category and top-selling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Customer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of each region's most popular category and top-spending 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Monthly Sales Trend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NAMES, each month's top category/product, each region's most-liked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Profit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with highest/lowest profit Region and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7 –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 &amp; Seasonal Trend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and worst customers by total Sales, and calculates what percentage of total revenue the top customer contributes — flagging who is worth protecting with a loyalty program.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New: a table showing each region's most popular category and top-spending customer, side by side.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sales by calendar Month and Year to reveal seasonality — which months are strongest so management can plan stock and staffing ahead of time.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3977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New: shows month NAMES (not numbers), each month's top category/product, and each region's most-liked category.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Analysis: Beyond Just Sales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can have high Sales but a low profit margin, or low Sales but a high margin. Analyzing profit separately gives management the fuller picture before deciding what to promote or discontinue.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EAF3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6118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Profit Margin  =  ( Total Profit ÷ Total Sales )  × 100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169164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122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Leads With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12280" y="2286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/ lowest profit Region and Category, shown first — before overall margin figures.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361188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Shows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and bottom 5 most/least profitable products.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Graph Reports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395020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totals across regions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trend across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each category's share of the whole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of order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Plot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between Sales and Profit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Gallery Heading"/>
          <p:cNvSpPr/>
          <p:nvPr/>
        </p:nvSpPr>
        <p:spPr>
          <a:xfrm>
            <a:off x="6309360" y="16916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ACTUAL CHARTS FROM THE CODE</a:t>
            </a:r>
            <a:endParaRPr lang="en-US" sz="1300" dirty="0"/>
          </a:p>
        </p:txBody>
      </p:sp>
      <p:pic>
        <p:nvPicPr>
          <p:cNvPr id="21" name="Bar Chart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60240"/>
            <a:ext cx="2560320" cy="1600200"/>
          </a:xfrm>
          <a:prstGeom prst="rect">
            <a:avLst/>
          </a:prstGeom>
          <a:ln w="9525">
            <a:solidFill>
              <a:srgbClr val="E2E8ED"/>
            </a:solidFill>
          </a:ln>
        </p:spPr>
      </p:pic>
      <p:sp>
        <p:nvSpPr>
          <p:cNvPr id="22" name="Caption Bar"/>
          <p:cNvSpPr/>
          <p:nvPr/>
        </p:nvSpPr>
        <p:spPr>
          <a:xfrm>
            <a:off x="6309360" y="358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</a:rPr>
              <a:t>Bar Chart — Total Sales by Region</a:t>
            </a:r>
          </a:p>
        </p:txBody>
      </p:sp>
      <p:pic>
        <p:nvPicPr>
          <p:cNvPr id="23" name="Pie Chart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960240"/>
            <a:ext cx="2560320" cy="1600200"/>
          </a:xfrm>
          <a:prstGeom prst="rect">
            <a:avLst/>
          </a:prstGeom>
          <a:ln w="9525">
            <a:solidFill>
              <a:srgbClr val="E2E8ED"/>
            </a:solidFill>
          </a:ln>
        </p:spPr>
      </p:pic>
      <p:sp>
        <p:nvSpPr>
          <p:cNvPr id="24" name="Caption Pie"/>
          <p:cNvSpPr/>
          <p:nvPr/>
        </p:nvSpPr>
        <p:spPr>
          <a:xfrm>
            <a:off x="9052560" y="35804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</a:rPr>
              <a:t>Pie Chart — Category Sales Share</a:t>
            </a:r>
          </a:p>
        </p:txBody>
      </p:sp>
      <p:pic>
        <p:nvPicPr>
          <p:cNvPr id="25" name="Histogram Outp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803320"/>
            <a:ext cx="2560320" cy="1600200"/>
          </a:xfrm>
          <a:prstGeom prst="rect">
            <a:avLst/>
          </a:prstGeom>
          <a:ln w="9525">
            <a:solidFill>
              <a:srgbClr val="E2E8ED"/>
            </a:solidFill>
          </a:ln>
        </p:spPr>
      </p:pic>
      <p:sp>
        <p:nvSpPr>
          <p:cNvPr id="26" name="Caption Histogram"/>
          <p:cNvSpPr/>
          <p:nvPr/>
        </p:nvSpPr>
        <p:spPr>
          <a:xfrm>
            <a:off x="6309360" y="5423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</a:rPr>
              <a:t>Histogram — Order Value Spread</a:t>
            </a:r>
          </a:p>
        </p:txBody>
      </p:sp>
      <p:pic>
        <p:nvPicPr>
          <p:cNvPr id="27" name="Scatter Chart Outpu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3803320"/>
            <a:ext cx="2560320" cy="1600200"/>
          </a:xfrm>
          <a:prstGeom prst="rect">
            <a:avLst/>
          </a:prstGeom>
          <a:ln w="9525">
            <a:solidFill>
              <a:srgbClr val="E2E8ED"/>
            </a:solidFill>
          </a:ln>
        </p:spPr>
      </p:pic>
      <p:sp>
        <p:nvSpPr>
          <p:cNvPr id="28" name="Caption Scatter"/>
          <p:cNvSpPr/>
          <p:nvPr/>
        </p:nvSpPr>
        <p:spPr>
          <a:xfrm>
            <a:off x="9052560" y="54235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</a:rPr>
              <a:t>Scatter — Sales vs Profit</a:t>
            </a:r>
          </a:p>
        </p:txBody>
      </p:sp>
      <p:sp>
        <p:nvSpPr>
          <p:cNvPr id="6" name="Text 2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is saved as a file with plt.savefig() and closed with plt.close() so charts never overlap.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spd="slow">
    <p:wheel spokes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Learning: Four Models, Trained on History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859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relationship between Quantity, Discount, Region and Category vs. actual Sales.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8338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833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8328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Profit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7947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approach, trained separately to estimate Profit for new orders.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009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009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KMeans Clustering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7947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regions into High / Medium / Low performance by similarity in Sales &amp; Profit — no labels given.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81160" y="173736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1842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184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283464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1832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37947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small trees vote on whether an order is High-Value or Low-Value — majority wins.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11 — DEEP DIVE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Random Forest Model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
</a:t>
            </a: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 = 100,
    max_depth    = 4,
    random_state = 42
</a:t>
            </a:r>
            <a:r>
              <a:rPr lang="en-US" sz="1400" dirty="0">
                <a:solidFill>
                  <a:srgbClr val="8F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median Sales cutoff first labels every historical order High-Value (1) or Low-Value (0). The forest then learns to predict that label for new orders.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86600" y="16642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202082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random, slightly different slice of the historical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301752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9900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 Vote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334670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tree guesses High/Low; the forest's final answer is whichever guess wins the vote.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4343400"/>
            <a:ext cx="548640" cy="54864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4315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Depth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4672584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is kept shallow — simple, fast, and resistant to overfitting.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54864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one single tree? One tree can be thrown off by a few noisy rows — 100 trees voting together smooth that noise out.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Future Sales From a New CSV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2591840"/>
          </a:xfrm>
          <a:prstGeom prst="roundRect">
            <a:avLst>
              <a:gd name="adj" fmla="val 271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&amp; Encode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331720" cy="10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new CSV (no Sales/Profit yet); reuse the same Region/Category number-mappings from training.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3246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97480" cy="2591840"/>
          </a:xfrm>
          <a:prstGeom prst="roundRect">
            <a:avLst>
              <a:gd name="adj" fmla="val 2712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331720" cy="10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trained models to estimate Sales, Profit, and High/Low performance for every new row.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3246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697480" cy="2591840"/>
          </a:xfrm>
          <a:prstGeom prst="roundRect">
            <a:avLst>
              <a:gd name="adj" fmla="val 2712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 to Product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331720" cy="10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 / weakest Product inside the best/weak Region and Category — concrete, not just a region name.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15400" y="324612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52560" y="1874520"/>
            <a:ext cx="2697480" cy="2591840"/>
          </a:xfrm>
          <a:prstGeom prst="roundRect">
            <a:avLst>
              <a:gd name="adj" fmla="val 2712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&amp; Visualize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35440" y="3246120"/>
            <a:ext cx="2331720" cy="10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predicted_future_sales.csv, save a bar graph, and store the result for Business Suggestions.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7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includes: Expected High-Performing Region + its leading product, and Expected Weak Region/Category + their weakest product.</a:t>
            </a:r>
            <a:endParaRPr lang="en-US" sz="1300" dirty="0"/>
          </a:p>
        </p:txBody>
      </p:sp>
      <p:pic>
        <p:nvPicPr>
          <p:cNvPr id="30" name="Predicted Sales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760" y="5489320"/>
            <a:ext cx="880000" cy="550000"/>
          </a:xfrm>
          <a:prstGeom prst="rect">
            <a:avLst/>
          </a:prstGeom>
          <a:ln w="9525">
            <a:solidFill>
              <a:srgbClr val="E2E8ED"/>
            </a:solidFill>
          </a:ln>
        </p:spPr>
      </p:pic>
      <p:sp>
        <p:nvSpPr>
          <p:cNvPr id="31" name="Predicted Chart Caption"/>
          <p:cNvSpPr/>
          <p:nvPr/>
        </p:nvSpPr>
        <p:spPr>
          <a:xfrm>
            <a:off x="5640760" y="6039320"/>
            <a:ext cx="880000" cy="1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</a:rPr>
              <a:t>Actual code output: predicted_sales_by_region.png</a:t>
            </a:r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Suggestions: The Decision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dataset the suggestions are based 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Dataset (Option 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0175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/ Future Dataset (Option 12)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77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— clearly labeled side by side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5257800" cy="4069080"/>
          </a:xfrm>
          <a:prstGeom prst="roundRect">
            <a:avLst>
              <a:gd name="adj" fmla="val 1798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Facts — Reasoning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stating “Region North has the highest sales,” the engine drills one level deeper to explain WHY — which category and product actually drove it, and which category/region the top customer prefers.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794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“Region South is weakest, dragged down by the Furniture category and product X — increase marketing there.”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layer that turns numbers into decisions.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14 – 15 &amp; OVERALL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Up: Report, Menu Loop &amp; 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556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menu, read the user's choice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5328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choice through an if/elif chain to the matching function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3101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generated is appended to report_lines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0873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14 writes report_lines to business_report.txt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864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 repeats until Option 15 (Exit) is chosen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AF3F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open() · .write() · .close()  — plain built-in Python file functions, no external library needed for the text report.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0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B3D5C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Program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897880" y="2258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26060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Main Menu (1–15)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97880" y="3172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35204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User Choice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4087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44348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Matching Function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498348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5212080"/>
            <a:ext cx="0" cy="13716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34924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5349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Analysis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(Options 1–9)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5212080"/>
            <a:ext cx="0" cy="13716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534924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5349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ML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(Options 10–11)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26680" y="5212080"/>
            <a:ext cx="0" cy="13716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534924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5349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Suggest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(Options 12–13)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698480" y="5212080"/>
            <a:ext cx="0" cy="137160"/>
          </a:xfrm>
          <a:prstGeom prst="line">
            <a:avLst/>
          </a:prstGeom>
          <a:noFill/>
          <a:ln w="12700">
            <a:solidFill>
              <a:srgbClr val="D7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534924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3F6"/>
          </a:solidFill>
          <a:ln/>
          <a:effectLst>
            <a:outerShdw blurRad="76200" dist="25400" dir="5400000" algn="bl" rotWithShape="0">
              <a:srgbClr val="0B3D5C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64040" y="5349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Exit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(Options 14–15)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783080" y="5212080"/>
            <a:ext cx="10195560" cy="0"/>
          </a:xfrm>
          <a:prstGeom prst="line">
            <a:avLst/>
          </a:prstGeom>
          <a:noFill/>
          <a:ln w="15875">
            <a:solidFill>
              <a:srgbClr val="D7E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until Option 15 (Exit) sets program_running = False.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 Glossary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8404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rows sharing a column value, like a PivotTable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idxmax() / idxmin()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label (name) of the best / worst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sort_values() / head() / tail()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results; shows top / bottom performers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.map() / .fillna()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Encodes text to numbers for ML; fills missing values safely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np.where()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value based on a condition (e.g. High/Low 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.fit() / .predict()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a model on history, then estimates outcomes for new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2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32323" y="3749040"/>
            <a:ext cx="5029200" cy="502920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NUMBERS TO DECISIONS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Analytics + Machine Learning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 Business Decision Engine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68680" y="369417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5021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/ inventory allocation by region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2611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69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allocation by region &amp; category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48280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6360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— expand or discontinue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3949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20293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for top revenue contributors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" y="6172200"/>
            <a:ext cx="14630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832" y="642216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and Business Decision Support System — Python Project</a:t>
            </a:r>
            <a:endParaRPr lang="en-US" sz="11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123F1A-EEF6-ACAF-CAF6-1CC7DB9CC8CD}"/>
              </a:ext>
            </a:extLst>
          </p:cNvPr>
          <p:cNvGrpSpPr/>
          <p:nvPr/>
        </p:nvGrpSpPr>
        <p:grpSpPr>
          <a:xfrm>
            <a:off x="9607376" y="5001215"/>
            <a:ext cx="2339547" cy="1815083"/>
            <a:chOff x="8262550" y="4972842"/>
            <a:chExt cx="2339547" cy="181508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38FB07-046A-D218-3540-963FFF26BC10}"/>
                </a:ext>
              </a:extLst>
            </p:cNvPr>
            <p:cNvSpPr txBox="1"/>
            <p:nvPr/>
          </p:nvSpPr>
          <p:spPr>
            <a:xfrm>
              <a:off x="8612451" y="5015466"/>
              <a:ext cx="16623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u="sng" dirty="0">
                  <a:solidFill>
                    <a:schemeClr val="bg1"/>
                  </a:solidFill>
                </a:rPr>
                <a:t>Team Members</a:t>
              </a:r>
              <a:endParaRPr lang="en-IN" b="1" u="sng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D4775F-91B1-C9DF-F70F-6E2418C322D0}"/>
                </a:ext>
              </a:extLst>
            </p:cNvPr>
            <p:cNvSpPr/>
            <p:nvPr/>
          </p:nvSpPr>
          <p:spPr>
            <a:xfrm>
              <a:off x="8262550" y="4972842"/>
              <a:ext cx="2339547" cy="1815083"/>
            </a:xfrm>
            <a:prstGeom prst="rect">
              <a:avLst/>
            </a:prstGeom>
            <a:noFill/>
            <a:ln w="9525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ABFEF17-4464-0811-7345-CA848F139AC6}"/>
                </a:ext>
              </a:extLst>
            </p:cNvPr>
            <p:cNvSpPr txBox="1"/>
            <p:nvPr/>
          </p:nvSpPr>
          <p:spPr>
            <a:xfrm>
              <a:off x="8392062" y="5808532"/>
              <a:ext cx="174573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chemeClr val="bg1"/>
                  </a:solidFill>
                </a:rPr>
                <a:t>1. Nikhil Malviya</a:t>
              </a:r>
            </a:p>
            <a:p>
              <a:r>
                <a:rPr lang="en-US" sz="1200" i="1" dirty="0">
                  <a:solidFill>
                    <a:schemeClr val="bg1"/>
                  </a:solidFill>
                </a:rPr>
                <a:t>2. Shreyash Pandey</a:t>
              </a:r>
            </a:p>
            <a:p>
              <a:r>
                <a:rPr lang="en-US" sz="1200" i="1" dirty="0">
                  <a:solidFill>
                    <a:schemeClr val="bg1"/>
                  </a:solidFill>
                </a:rPr>
                <a:t>3. Ayush Kumar Gupta</a:t>
              </a:r>
            </a:p>
            <a:p>
              <a:r>
                <a:rPr lang="en-US" sz="1200" i="1" dirty="0">
                  <a:solidFill>
                    <a:schemeClr val="bg1"/>
                  </a:solidFill>
                </a:rPr>
                <a:t>4. Ashutosh Singh Senger</a:t>
              </a:r>
              <a:endParaRPr lang="en-IN" sz="1200" i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2202</Words>
  <Application>Microsoft Office PowerPoint</Application>
  <PresentationFormat>Widescreen</PresentationFormat>
  <Paragraphs>320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Malviya</cp:lastModifiedBy>
  <cp:revision>2</cp:revision>
  <dcterms:created xsi:type="dcterms:W3CDTF">2026-07-26T16:20:29Z</dcterms:created>
  <dcterms:modified xsi:type="dcterms:W3CDTF">2026-07-26T17:57:53Z</dcterms:modified>
</cp:coreProperties>
</file>